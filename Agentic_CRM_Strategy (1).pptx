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today's Agentic CRM strategy offsite. This presentation explores how our commercial bank can evolve from a passive CRM to an intelligent, agent-driven revenue platform inspired by Rox.com's architecture. Set expectations: we'll cover the market landscape, current state, vision, use cases, implementation, and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Meeting objectives:
1. Align leadership on what Agentic CRM means for a commercial bank
2. Agree on the 6-12 month roadmap priorities
3. Identify quick wins vs. longer-term bets
4. Secure sponsorship and budget approval for Phase 1
Expected outcome: a prioritized backlog and executive sponsor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Traditional CRM is a passive database — it stores what humans enter. AI-assisted CRM suggests what to do. Agentic CRM does it. The leap from AI-assisted to Agentic is where the real productivity gains live.
Rox.com, backed by Sequoia and Google Ventures, has proven this model with enterprise clients like Ramp, MongoDB, and OpenAI — delivering 50% productivity gains and 2x pipeline ROI. Our commercial bank can apply the same architecture to relationship banking.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points:
- The agentic AI market is growing 40%+ CAGR. Banks that move now build defensible advantages.
- Rox.com is the benchmark: backed by Sequoia &amp; GV, used by Ramp, MongoDB, OpenAI. Their architecture (agent swarms + knowledge graph) is directly applicable to commercial banking relationship management.
- Salesforce is adding agents but they're CRM-locked. Our custom CRM gives us the flexibility to build warehouse-native, which is architecturally superior.
- Banking-specific trends: OCC guidance on AI in banking, model risk management requirements, and audit log needs all favor a purpose-built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Facilitation tip: This slide is designed to generate honest dialogue. Ask the team: 'What else belongs in the gaps column?' Common additions in banking: no account health scores, no automated meeting follow-up, no next-best-action engine.
Key message: Our custom CRM is actually an asset — it means we can build warehouse-native agents without fighting a legacy vendor's architecture. This is a competitive advantage Salesforce customers don't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roadmap mirrors Rox.com's build sequence: system of record → agent intelligence → autonomous action. Phase 1 is deliberately low-risk — read-only agents that research and surface insights, requiring human approval for all actions. Phase 3 introduces supervised autonomy with audit logs and RBAC controls built in from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use cases are directly adapted from Rox.com's proven agent patterns. The Command Interface (Phase 3) is Rox's most powerful feature — a single natural language query decomposes into a multi-agent workflow across CRM, calendar, email, and enrichment sources. For banking, this maps to: 'Show me renewal risk for Q2 portfolio' → agent queries CRM + treasury + payment history → surfaces prioritized action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is directly modeled on Rox.com's published design:
Layer 1 — System of Record: We consolidate all data sources into a unified account graph. Our custom CRM gives us control other banks don't have.
Layer 2 — Knowledge Graph: Amazon Aurora with PostgreSQL + vector embeddings for semantic search. Context management ensures each agent has full account history without token limits.
Layer 3 — Agent Swarm: One agent per RM portfolio (not per account — more scalable for banking). The Command Orchestrator handles multi-step requests like 'prep me for ACME renewal.'
LLM choice: Rox chose Claude Sonnet 4 for tool-calling and multi-step reasoning. We should evaluate the same given our compliance requirements.
Key difference from generic AI: Every suggestion is explainable (source traces), reversible (audit logs), and policy-aware (role-based access control).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for executive leadership. Banks move slowly for good reason — model risk management, OCC guidance on AI, and GLBA data privacy requirements all must be satisfied.
Key governance framework elements:
1. All AI outputs cite their sources (no black box)
2. Audit log of every agent action — immutable, queryable
3. Human-in-the-loop for all Phase 1 actions
4. Model validation quarterly (SR 11-7 compliant approach)
5. RBAC ensures RMs only see their book
Rox's architecture already includes multi-layer guardrails with RBAC + rate limits + required approvals. We adapt this to banking compliance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meeting by forcing decisions. The five action items have explicit owners and 4-week deadlines to maintain momentum.
Key decision point: Build vs. Buy vs. Partner with Rox.com. Rox is warehouse-native, supports custom CRM integration, and was explicitly built for enterprise account-based selling. For a commercial bank with sophisticated account relationships, Rox's architecture is a strong fit. The build cost comparison should include: 6–9 months engineering time, LLM API costs, and ongoing model maintenance vs. Rox enterprise licensing.
Success metrics for Phase 1 pilot:
- Time saved per RM per week (target: 5+ hours)
- CRM data completeness improvement
- Pre-meeting brief adoption rate
- Sales-accepted pipeline from agent-surfaced opportunities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 rationale:
- AWS is the natural choice given Rox.com's validated architecture on Bedrock + ECS + SQS
- Claude Sonnet 4 selected for superior tool-calling and multi-step reasoning (Rox's own choice)
- Warehouse-native approach (Snowflake/Redshift) future-proofs data ownership
- Cerebras Inference adds 10-20x faster response for real-time RM interactions
- Pinecone/pgvector enables semantic search across meeting transcripts, emails, notes
- LangGraph preferred over CrewAI for stateful, long-horizon banking workflows
- All PII stays within bank's AWS VPC — never sent to external LLM endpoints
Key decision: pgvector (in Aurora already) vs. Pinecone (dedicated vector DB). pgvector is simpler to start; Pinecone at scale when &gt;10M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Hiring guidance:
- AI/ML Engineers are the hardest to hire. Prioritize candidates with LangChain/LangGraph experience and banking or fintech background. Expect $180–$220K market rate.
- Data Engineers with warehouse-native experience (dbt, Snowflake, Airbyte) are key — the knowledge graph is the foundation everything else builds on.
- The Product Manager must be comfortable with ambiguity and have strong RM-facing skills — they'll translate banker pain into agent specifications.
- Consider contracting the first AI/ML engineer for 90 days from a specialist firm (Scale AI, Cohere partners, AWS ML SA resources) to accelerate Phase 1.
- MLOps in Phase 2 is non-negotiable for a bank — SR 11-7 model risk management requires documented monitoring, retraining policies, and performance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Investment decision framework:
Phase 1 ($200K–$280K) should be positioned as a 90-day strategic pilot — a bounded investment with clear go/no-go criteria at day 90:
- Time saved per RM: target 5+ hours/week
- CRM data completeness: target 40%+ improvement
- Agent-surfaced pipeline: target $5M+ in sales-accepted opportunities
Hybrid model rationale: Rox.com has already solved the hard infrastructure problems (knowledge graph, agent orchestration, context management, bi-directional CRM sync). Their warehouse-native approach is a direct fit for our custom CRM. By partnering for the platform and building banking-specific logic in-house (compliance guardrails, relationship scoring, treasury data agents), we get speed now and competitive differentiation over time.
Ask the CFO: frame this as $200-280K to test vs. $1.3-1.9M/year to scale — the pilot pays for itself if it surfaces one material commercial banking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CRM STRATEGY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Passive Record-Keeping to Autonomous Revenue Action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  |  </a:t>
            </a:r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Offsite — Executive Strategy Session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AI Strategist  |  February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2468880"/>
            <a:ext cx="1828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Rox.com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&amp; Meeting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Strategic Session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420624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25880"/>
            <a:ext cx="457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258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CRM?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709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differentiation from traditional CRM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240280"/>
            <a:ext cx="420624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240280"/>
            <a:ext cx="457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2402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players &amp; benchmarks in agentic AI for CRM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154680"/>
            <a:ext cx="420624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154680"/>
            <a:ext cx="457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1546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538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 — gaps &amp; opportunities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069080"/>
            <a:ext cx="420624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4069080"/>
            <a:ext cx="457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0690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133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Roadmap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453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 transformation blueprint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325880"/>
            <a:ext cx="420624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325880"/>
            <a:ext cx="457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3258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1709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lead scoring, outreach &amp; pipeline management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240280"/>
            <a:ext cx="420624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240280"/>
            <a:ext cx="457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2402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Tech Stack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agents &amp; build vs. buy decisions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154680"/>
            <a:ext cx="420624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154680"/>
            <a:ext cx="457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1546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12080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Governance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12080" y="3538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Controls, compliance &amp; responsible AI framework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4069080"/>
            <a:ext cx="420624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4069080"/>
            <a:ext cx="457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0690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12080" y="4133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12080" y="4453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Owners, timelines &amp; decisions needed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Meeting Goal: Align on vision, prioritize use cases, and approve Phase 1 investment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CRM?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passive database → autonomous revenue engine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3108960"/>
          </a:xfrm>
          <a:prstGeom prst="rect">
            <a:avLst/>
          </a:prstGeom>
          <a:solidFill>
            <a:srgbClr val="E8F4F8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74320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Manual data entry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Static records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Reactive insights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Human-triggered tasks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2194560" cy="274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00400" y="1280160"/>
            <a:ext cx="2743200" cy="3108960"/>
          </a:xfrm>
          <a:prstGeom prst="rect">
            <a:avLst/>
          </a:prstGeom>
          <a:solidFill>
            <a:srgbClr val="E8F4F8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280160"/>
            <a:ext cx="2743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1783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Predictive scoring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Recommended actions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Sentiment analysis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Human-in-the-loop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4206240"/>
            <a:ext cx="21945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STANDARD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8932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126480" y="1280160"/>
            <a:ext cx="2743200" cy="3108960"/>
          </a:xfrm>
          <a:prstGeom prst="rect">
            <a:avLst/>
          </a:prstGeom>
          <a:solidFill>
            <a:srgbClr val="0A1628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28016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CRM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1783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Autonomous agents per account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Self-directed outreach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Proactive risk detection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Multi-step reasoning &amp; execution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4206240"/>
            <a:ext cx="21945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Rox.com Definition: "An agent swarm where each AI agent is paired to a specific account, continuously monitoring, reasoning, and acting on behalf of revenue teams"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 &amp; Trends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redefining CRM — and banking is early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6596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$8.4B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2028 (IDC)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234440"/>
            <a:ext cx="196596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50592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productivity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(Rox clients)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234440"/>
            <a:ext cx="196596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26864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ROI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agent-powered teams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1234440"/>
            <a:ext cx="196596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8hrs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03136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rep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(Rox)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Market Players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944368"/>
            <a:ext cx="1371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71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Rox.com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2971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swarms per account; AWS + Claude Sonnet; warehouse-native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13716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29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Agentforce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CRM-native agents; Apex sandbox; limited multi-system reasoning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858768"/>
            <a:ext cx="13716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86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CRM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3886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Teams-integrated; Dynamics native; limited autonomy depth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315968"/>
            <a:ext cx="137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343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94560" y="4343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SMB-focused; simpler agent framework; good for low complexity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Trends for Banking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2944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Warehouse-native architectures (Snowflake, BigQuery) replacing CRM silos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33284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Multi-agent orchestration replacing single-model chatbots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0" y="37124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Bi-directional CRM sync with autonomous field writeback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40965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Compliance-aware agents with audit trail &amp; RBAC controls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4480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Voice-enabled meeting prep &amp; real-time coaching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Assessment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 — honest diagnosis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Custom CRM: Strengths &amp; Gaps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114800" cy="23317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00200"/>
            <a:ext cx="411480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002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Strengths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data ownership — no vendor lock-in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Banking-specific fields &amp; workflows already built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Integration with core banking &amp; loan origination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83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Compliance controls already in place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600200"/>
            <a:ext cx="4114800" cy="2834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600200"/>
            <a:ext cx="41148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6002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Gaps to Close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No real-time signal monitoring across accounts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Manual relationship activity logging (low adoption)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No predictive models for churn or expansion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Siloed data: CRM ≠ core banking ≠ treasury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840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Zero autonomous action capability today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We have the right foundation and data ownership. We are missing the intelligence layer and execution engine — exactly what Agentic CRM provides.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Agentic CRM in 12 Months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entry system → autonomous, always-on banking relationship engine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520440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Months 1–3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Unified knowledge graph connecting CRM + core banking + treasury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52374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pipeline: real-time event streaming (AWS SQS/Kinesis)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23697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Pilot: Account Research Agent for top 50 commercial clients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7832" y="1188720"/>
            <a:ext cx="2743200" cy="3520440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18872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188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Months 4–8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27832" y="14447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181051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Deploy agent swarm: one agent per RM book of business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64992" y="252374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Relationship health scoring + churn prediction models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64992" y="323697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Automated meeting briefs &amp; post-call CRM writeback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1344" y="1188720"/>
            <a:ext cx="2743200" cy="3520440"/>
          </a:xfrm>
          <a:prstGeom prst="rect">
            <a:avLst/>
          </a:prstGeom>
          <a:solidFill>
            <a:srgbClr val="1E3A5F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1188720"/>
            <a:ext cx="274320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1188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Months 9–12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81344" y="14447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18504" y="181051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Self-directed outreach campaigns with human approval gates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18504" y="252374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Opportunity risk detection &amp; next-best-action engine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18504" y="323697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Command interface: natural language → multi-step agent workflows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Every Relationship Manager supported by an always-on AI agent that monitors, suggests, and acts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 for Commercial Banking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Rox-inspired agent patterns adapted for relationship banking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74320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44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Account Research Agent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636776"/>
            <a:ext cx="6400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3677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monitors account activity, news, and signals. Auto-generates pre-meeting briefs and flags risk events without banker input.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234440"/>
            <a:ext cx="274320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2344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44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Relationship Health Scoring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1636776"/>
            <a:ext cx="6400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63677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46120" y="18745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all accounts on engagement depth, product penetration, and churn risk. Prioritizes RM workload automatically.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234440"/>
            <a:ext cx="274320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2344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44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Autonomous Outreach Agent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636776"/>
            <a:ext cx="6400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3677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72200" y="18745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personalized banker communications using CRM data + market signals. Human approves; agent sends and logs.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154680"/>
            <a:ext cx="274320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15468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264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Pipeline Risk Monitor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3557016"/>
            <a:ext cx="6400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5570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37947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Stage-aware deal risk detection. Flags stalled opportunities, missing stakeholders, and competitive signals in real time.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54680" y="3154680"/>
            <a:ext cx="274320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315468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264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Command Interface (NL→Action)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46120" y="3557016"/>
            <a:ext cx="640080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5570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46120" y="37947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"Prep me for my ACME renewal" → agent decomposes into 6 parallel tasks: research, outreach, proposal, CRM update.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3154680"/>
            <a:ext cx="274320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315468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264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CRM Writeback Automation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72200" y="3557016"/>
            <a:ext cx="6400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5570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72200" y="37947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Auto-updates call notes, contact data, and opportunity stages from meeting transcripts and email threads.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Rox.com-inspired 3-layer architecture adapted for commercial banking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86868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109728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Record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1143000"/>
            <a:ext cx="9144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143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CRM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23744" y="1143000"/>
            <a:ext cx="9144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143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84448" y="1143000"/>
            <a:ext cx="9144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1143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Treasury/Payments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45152" y="1143000"/>
            <a:ext cx="9144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143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05856" y="1143000"/>
            <a:ext cx="9144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05856" y="1143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Email/Calendar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66560" y="1143000"/>
            <a:ext cx="9144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143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Transcripts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27264" y="1143000"/>
            <a:ext cx="9144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27264" y="1143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News/Web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148840"/>
            <a:ext cx="86868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148840"/>
            <a:ext cx="109728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1488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63040" y="2221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Account Knowledge Graph  |  Context Management Framework  |  AWS Aurora (PostgreSQL)  +  Vector Store  |  Bi-directional CRM sync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3063240"/>
            <a:ext cx="8686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063240"/>
            <a:ext cx="109728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0632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Swarm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17320" y="3154680"/>
            <a:ext cx="105156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315468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24328" y="3154680"/>
            <a:ext cx="105156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24328" y="315468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31336" y="3154680"/>
            <a:ext cx="105156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31336" y="315468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38344" y="3154680"/>
            <a:ext cx="105156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38344" y="315468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Agent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45352" y="3154680"/>
            <a:ext cx="105156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315468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Writeback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52360" y="3154680"/>
            <a:ext cx="105156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315468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8600" y="4224528"/>
            <a:ext cx="86868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27024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LLM: Claude Sonnet 4 (AWS Bedrock)  |  Infra: AWS ECS + SQS + ElastiCache  |  Storage: Aurora + S3 + Data Warehouse  |  Interface: Web App + Slack + Mobile  |  Guardrails: RBAC + Audit Logs + Approval Gates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Challenges &amp; Governance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Banking-grade AI: safety and compliance by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86868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91440" cy="548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44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Hallucination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371600"/>
            <a:ext cx="685800" cy="228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3716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0" y="1307592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Source citation required on all outputs; human approval gate for customer-facing actions; output tracing to knowledge graph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847088"/>
            <a:ext cx="86868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847088"/>
            <a:ext cx="91440" cy="548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56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/ OCC Compliance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1984248"/>
            <a:ext cx="685800" cy="228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98424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0" y="192024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 Risk Management framework applied; all AI actions logged with immutable audit trail; quarterly model validation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59736"/>
            <a:ext cx="86868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459736"/>
            <a:ext cx="91440" cy="548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569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(GLBA/CCPA)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23160" y="2596896"/>
            <a:ext cx="685800" cy="228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259689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0" y="2532888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PII to external LLMs; on-premise inference option; data residency controls; role-based access per RM book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072384"/>
            <a:ext cx="86868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072384"/>
            <a:ext cx="914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82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 Adoption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23160" y="3209544"/>
            <a:ext cx="68580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320954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00400" y="314553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Co-pilot mode first (suggest, don't act); RM champions program; 'explain my recommendation' feature in every agent output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685032"/>
            <a:ext cx="86868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685032"/>
            <a:ext cx="914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Complexity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23160" y="3822192"/>
            <a:ext cx="68580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382219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0" y="375818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Warehouse-native architecture; read-only phase first; no changes to core banking in Phase 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4297680"/>
            <a:ext cx="86868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4297680"/>
            <a:ext cx="91440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Model Dependency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23160" y="4434840"/>
            <a:ext cx="685800" cy="22860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443484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00400" y="4370832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Multi-model routing (Claude + Llama fallback); open data schema; avoid vendor lock-in at knowledge graph layer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4818888"/>
            <a:ext cx="86868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Principle: Supervised Autonomy — agents suggest and draft; humans approve and execute until trust is established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Discussion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9494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 today — owners and timelines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69494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41148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15214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Rox.com partnership vs. build-in-house decision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4447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licensing cost vs. 12-month build cost; Rox warehouse-native fits our custom CRM architecture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0760" y="1170432"/>
            <a:ext cx="137160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1704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AI Strategist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589520" y="1170432"/>
            <a:ext cx="1188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1704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892808"/>
            <a:ext cx="8686800" cy="69494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892808"/>
            <a:ext cx="41148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892808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" y="194767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data readiness for knowledge graph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all data sources; identify gaps; design unified schema for account context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1965960"/>
            <a:ext cx="137160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589520" y="1965960"/>
            <a:ext cx="1188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1965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688336"/>
            <a:ext cx="8686800" cy="69494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688336"/>
            <a:ext cx="41148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688336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" y="27432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AI Model Risk Policy for Agentic CRM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30358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11-7 alignment; define approval gates; establish audit log requirements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2761488"/>
            <a:ext cx="137160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7614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89520" y="2761488"/>
            <a:ext cx="1188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27614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483864"/>
            <a:ext cx="8686800" cy="69494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483864"/>
            <a:ext cx="41148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483864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31520" y="3538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3–5 RM champions for Phase 1 pilot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38313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top-50 accounts; design feedback loops; define success metrics (time saved, pipeline impact)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80760" y="3557016"/>
            <a:ext cx="137160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355701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Commercial Banking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589520" y="3557016"/>
            <a:ext cx="1188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355701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4279392"/>
            <a:ext cx="8686800" cy="69494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28600" y="4279392"/>
            <a:ext cx="41148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4279392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31520" y="43342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1 budget and resource allocation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1520" y="46268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Estimated: $150K–$250K for 90-day pilot (infra + LLM API + 2 FTE engineers)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80760" y="4352544"/>
            <a:ext cx="137160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0760" y="43525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+ Sponsor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589520" y="4352544"/>
            <a:ext cx="1188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43525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time to build your AI agent swarm was 2 years ago. The second best time is today." — Ishan Mukherjee, CEO Rox.com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tool, service, and framework needed to build the Agentic CRM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162763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00584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Data &amp; Integration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463040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51790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Kinesis / Kafka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streaming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" y="2167128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2219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/ Redshift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48716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warehouse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" y="2871216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9260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+ Airbyte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319125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ETL/ELT pipelines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1168" y="3575304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6301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API Gateway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38953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system connectors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01168" y="4279392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4334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Clearbit / PitchBook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59943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enrichment APIs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965960" y="1005840"/>
            <a:ext cx="16276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100584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Knowledge Graph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1463040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039112" y="151790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Aurora (PG)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39112" y="17830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structured store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965960" y="2167128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039112" y="22219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/ pgvector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39112" y="248716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semantic search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65960" y="2871216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039112" y="29260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/ AWS Neptune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39112" y="319125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graph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965960" y="3575304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039112" y="36301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(Redis)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39112" y="38953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context cache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965960" y="4279392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039112" y="4334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LlamaIndex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39112" y="459943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mgmt framework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30752" y="1005840"/>
            <a:ext cx="1627632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30752" y="100584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Agent Swarm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730752" y="1463040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803904" y="151790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 (Bedrock)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03904" y="17830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reasoning LLM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730752" y="2167128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803904" y="22219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(Bedrock)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03904" y="248716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Cost-routing fallback LLM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30752" y="2871216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803904" y="29260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CrewAI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03904" y="319125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730752" y="3575304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803904" y="36301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SQS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03904" y="38953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agent triggers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730752" y="4279392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803904" y="4334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03904" y="459943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pipelines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495544" y="1005840"/>
            <a:ext cx="1627632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95544" y="100584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Security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495544" y="1463040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568696" y="151790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(Fargate)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568696" y="17830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compute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95544" y="2167128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568696" y="22219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Guardrails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568696" y="248716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filter + LLM policies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495544" y="2871216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568696" y="29260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+ OpenSearch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568696" y="319125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495544" y="3575304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5568696" y="36301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+ Cognito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568696" y="38953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per RM book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495544" y="4279392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5568696" y="4334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 Inference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568696" y="459943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10–20x faster responses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260336" y="1005840"/>
            <a:ext cx="1627632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60336" y="100584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Interface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260336" y="1463040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7333488" y="151790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333488" y="17830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RM web dashboard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260336" y="2167128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7333488" y="22219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333488" y="248716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mobile app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260336" y="2871216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7333488" y="29260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Bolt SDK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333488" y="319125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In-workflow notifications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7260336" y="3575304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7333488" y="36301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/ AWS Cognito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333488" y="38953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identity provider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260336" y="4279392"/>
            <a:ext cx="1627632" cy="621792"/>
          </a:xfrm>
          <a:prstGeom prst="rect">
            <a:avLst/>
          </a:prstGeom>
          <a:solidFill>
            <a:srgbClr val="1E3A5F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7333488" y="4334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/ SSE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333488" y="459943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agent streaming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People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need to build this — phased hiring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Core Build Team  (90-Day Pilot — 8 People)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554480"/>
            <a:ext cx="278892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554480"/>
            <a:ext cx="73152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45920"/>
            <a:ext cx="34747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4592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62763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9476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logic, LLM prompt chains, LangGraph orchestration, tool-calling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1554480"/>
            <a:ext cx="278892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554480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9272" y="1645920"/>
            <a:ext cx="3474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64592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30752" y="162763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9272" y="19476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schema, ETL pipelines, Aurora + vector store, CRM bi-sync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35624" y="1554480"/>
            <a:ext cx="278892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35624" y="1554480"/>
            <a:ext cx="73152" cy="7132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1645920"/>
            <a:ext cx="347472" cy="2560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64592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84264" y="162763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72784" y="19476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layer, SQS event handling, AWS ECS services, RBAC/auth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2359152"/>
            <a:ext cx="278892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359152"/>
            <a:ext cx="73152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450592"/>
            <a:ext cx="347472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5059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243230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275234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dashboard, agent output UI, Command interface, Slack integration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82112" y="2359152"/>
            <a:ext cx="278892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82112" y="2359152"/>
            <a:ext cx="73152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9272" y="2450592"/>
            <a:ext cx="347472" cy="2560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245059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30752" y="243230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Strategist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9272" y="275234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design, agent behavior specs, RM champion feedback, exec alignment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35624" y="2359152"/>
            <a:ext cx="278892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35624" y="2359152"/>
            <a:ext cx="73152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2784" y="2450592"/>
            <a:ext cx="347472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245059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84264" y="243230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72784" y="275234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management, backlog ownership, RM feedback loops, success metrics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3218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2–3 Scale-Up Additions  (+5 People)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28600" y="3566160"/>
            <a:ext cx="22860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" y="356616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61188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Engineer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384048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monitoring, drift detection, SR 11-7 quarterly validation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697480" y="3566160"/>
            <a:ext cx="22860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97480" y="3566160"/>
            <a:ext cx="73152" cy="548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0" y="361188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Compliance Eng.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834640" y="384048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 audit prep, GLBA data residency, pen testing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28600" y="4206240"/>
            <a:ext cx="22860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" y="4206240"/>
            <a:ext cx="73152" cy="5486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25196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Engineer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448056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iOS/Android app, voice-enabled meeting prep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97480" y="4206240"/>
            <a:ext cx="22860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97480" y="4206240"/>
            <a:ext cx="73152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34640" y="425196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Engineers ×2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834640" y="448056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interface, multimodal, additional agent types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212080" y="3218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Leadership Sponsors (Non-Builders)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212080" y="3566160"/>
            <a:ext cx="365760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21808" y="3602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 (C-suite)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269480" y="360273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authority + org air cover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212080" y="3950208"/>
            <a:ext cx="365760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21808" y="39867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Commercial Banking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269480" y="3986784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champion selection + metrics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212080" y="4334256"/>
            <a:ext cx="365760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21808" y="43708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Risk Officer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269480" y="437083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policy + OCC readiness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212080" y="4718304"/>
            <a:ext cx="365760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21808" y="47548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269480" y="475488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decisions + build vs. buy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Build vs. Buy Decision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 + strategic recommendation on how to execute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91640" y="1325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(90 days)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63240" y="1325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 Rate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36776"/>
            <a:ext cx="411480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733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 (6 FTE)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91640" y="16733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~$180K–$240K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16733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~$1.2M–$1.6M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20824"/>
            <a:ext cx="4114800" cy="347472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91640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~$8K–$15K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63240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~$60K–$120K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04872"/>
            <a:ext cx="411480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414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(Claude/Bedrock)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91640" y="24414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~$5K–$20K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63240" y="24414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~$40K–$150K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4114800" cy="347472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25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(Pinecone, dbt, etc.)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91640" y="2825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~$3K–$8K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63240" y="2825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~$25K–$60K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172968"/>
            <a:ext cx="4114800" cy="347472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2095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91640" y="32095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~$200K–$280K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63240" y="32095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~$1.3M–$1.9M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10058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vs. Buy vs. Partner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1325880"/>
            <a:ext cx="4206240" cy="996696"/>
          </a:xfrm>
          <a:prstGeom prst="rect">
            <a:avLst/>
          </a:prstGeom>
          <a:solidFill>
            <a:srgbClr val="1E3A5F"/>
          </a:solidFill>
          <a:ln w="1905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325880"/>
            <a:ext cx="1463040" cy="2926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325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CONTROL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0" y="1353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In-House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09160" y="16733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IP ownership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192024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100% custom banking logic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09160" y="21671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vendor dependency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12280" y="16733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9–12 months to full agents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12280" y="19202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Highest hiring risk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12280" y="2167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Must build all infra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404872"/>
            <a:ext cx="4206240" cy="996696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2404872"/>
            <a:ext cx="14630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404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17920" y="2432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Partner: Rox.com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709160" y="275234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60–90 day deployment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09160" y="29992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Proven agent architecture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09160" y="324612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Warehouse-native = custom CRM friendly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12280" y="27523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Ongoing licensing cost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12280" y="29992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Less banking-specific out of box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12280" y="3246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Vendor relationship to manage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3483864"/>
            <a:ext cx="4206240" cy="996696"/>
          </a:xfrm>
          <a:prstGeom prst="rect">
            <a:avLst/>
          </a:prstGeom>
          <a:solidFill>
            <a:srgbClr val="1E3A5F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63440" y="3483864"/>
            <a:ext cx="1463040" cy="2926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483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217920" y="3511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Agentforce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709160" y="383133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Familiar UI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09160" y="407822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Pre-built connectors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12280" y="38313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CRM-locked, no warehouse-native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12280" y="4078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Can't integrate custom CRM cleanly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12280" y="43251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Limited multi-system reasoning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526280"/>
            <a:ext cx="85953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11480" y="45445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Hybrid Recommendation: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606040" y="454456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Rox.com for agent framework + orchestration layer. Build banking-specific agents and compliance guardrails in-house. Move in 60–90 days, own the IP over time.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CRM Strategy — Commercial Bank</dc:title>
  <dc:subject>PptxGenJS Presentation</dc:subject>
  <dc:creator>PptxGenJS</dc:creator>
  <cp:lastModifiedBy>PptxGenJS</cp:lastModifiedBy>
  <cp:revision>1</cp:revision>
  <dcterms:created xsi:type="dcterms:W3CDTF">2026-02-18T06:16:46Z</dcterms:created>
  <dcterms:modified xsi:type="dcterms:W3CDTF">2026-02-18T06:16:46Z</dcterms:modified>
</cp:coreProperties>
</file>